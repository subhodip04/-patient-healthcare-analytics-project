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43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Patients</c:v>
                </c:pt>
              </c:strCache>
            </c:strRef>
          </c:tx>
          <c:spPr>
            <a:solidFill>
              <a:srgbClr val="7C93A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32B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Arthritis</c:v>
                </c:pt>
                <c:pt idx="1">
                  <c:v>Diabetes</c:v>
                </c:pt>
                <c:pt idx="2">
                  <c:v>Hypertension</c:v>
                </c:pt>
                <c:pt idx="3">
                  <c:v>Obesity</c:v>
                </c:pt>
                <c:pt idx="4">
                  <c:v>Cancer</c:v>
                </c:pt>
                <c:pt idx="5">
                  <c:v>Asthma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9200</c:v>
                </c:pt>
                <c:pt idx="1">
                  <c:v>9200</c:v>
                </c:pt>
                <c:pt idx="2">
                  <c:v>9200</c:v>
                </c:pt>
                <c:pt idx="3">
                  <c:v>9100</c:v>
                </c:pt>
                <c:pt idx="4">
                  <c:v>9100</c:v>
                </c:pt>
                <c:pt idx="5">
                  <c:v>9100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0C5-4132-B1FD-9D8CF79F267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32B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Gender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F546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E2B-4131-8533-20C7BD0530ED}"/>
              </c:ext>
            </c:extLst>
          </c:dPt>
          <c:dPt>
            <c:idx val="1"/>
            <c:bubble3D val="0"/>
            <c:spPr>
              <a:solidFill>
                <a:srgbClr val="A9715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E2B-4131-8533-20C7BD0530ED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E2B-4131-8533-20C7BD0530ED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E2B-4131-8533-20C7BD0530ED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Male</c:v>
                </c:pt>
                <c:pt idx="1">
                  <c:v>Female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27496</c:v>
                </c:pt>
                <c:pt idx="1">
                  <c:v>27470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E2B-4131-8533-20C7BD0530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32B33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Billing</c:v>
                </c:pt>
              </c:strCache>
            </c:strRef>
          </c:tx>
          <c:spPr>
            <a:solidFill>
              <a:srgbClr val="3F5468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32B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0.19</c:v>
                </c:pt>
                <c:pt idx="1">
                  <c:v>0.28000000000000003</c:v>
                </c:pt>
                <c:pt idx="2">
                  <c:v>0.28000000000000003</c:v>
                </c:pt>
                <c:pt idx="3">
                  <c:v>0.28000000000000003</c:v>
                </c:pt>
                <c:pt idx="4">
                  <c:v>0.28000000000000003</c:v>
                </c:pt>
                <c:pt idx="5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889-4B79-9AAE-CA01F75FB8A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32B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Billing (M)</c:v>
                </c:pt>
              </c:strCache>
            </c:strRef>
          </c:tx>
          <c:spPr>
            <a:solidFill>
              <a:srgbClr val="7C93A0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32B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Medicare</c:v>
                </c:pt>
                <c:pt idx="1">
                  <c:v>UnitedHealth</c:v>
                </c:pt>
                <c:pt idx="2">
                  <c:v>Aetna</c:v>
                </c:pt>
                <c:pt idx="3">
                  <c:v>Blue Cross</c:v>
                </c:pt>
                <c:pt idx="4">
                  <c:v>Cigna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93.3</c:v>
                </c:pt>
                <c:pt idx="1">
                  <c:v>92.38</c:v>
                </c:pt>
                <c:pt idx="2">
                  <c:v>92.21</c:v>
                </c:pt>
                <c:pt idx="3">
                  <c:v>92.01</c:v>
                </c:pt>
                <c:pt idx="4">
                  <c:v>91.81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E1-40FC-BB51-E0A46B66031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32B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9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Admission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F546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FA1-4922-A162-F7D592649020}"/>
              </c:ext>
            </c:extLst>
          </c:dPt>
          <c:dPt>
            <c:idx val="1"/>
            <c:bubble3D val="0"/>
            <c:spPr>
              <a:solidFill>
                <a:srgbClr val="A9715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FA1-4922-A162-F7D592649020}"/>
              </c:ext>
            </c:extLst>
          </c:dPt>
          <c:dPt>
            <c:idx val="2"/>
            <c:bubble3D val="0"/>
            <c:spPr>
              <a:solidFill>
                <a:srgbClr val="7C93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FA1-4922-A162-F7D592649020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FA1-4922-A162-F7D592649020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FA1-4922-A162-F7D592649020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FA1-4922-A162-F7D592649020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Elective</c:v>
                </c:pt>
                <c:pt idx="1">
                  <c:v>Urgent</c:v>
                </c:pt>
                <c:pt idx="2">
                  <c:v>Emergency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18470</c:v>
                </c:pt>
                <c:pt idx="1">
                  <c:v>18390</c:v>
                </c:pt>
                <c:pt idx="2">
                  <c:v>18100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FA1-4922-A162-F7D5926490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32B33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8498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188720"/>
            <a:ext cx="3840480" cy="3840480"/>
          </a:xfrm>
          <a:prstGeom prst="ellipse">
            <a:avLst/>
          </a:prstGeom>
          <a:solidFill>
            <a:srgbClr val="3F5468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155680" y="4572000"/>
            <a:ext cx="2743200" cy="2743200"/>
          </a:xfrm>
          <a:prstGeom prst="ellipse">
            <a:avLst/>
          </a:prstGeom>
          <a:solidFill>
            <a:srgbClr val="7C93A0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5303520"/>
            <a:ext cx="2926080" cy="2926080"/>
          </a:xfrm>
          <a:prstGeom prst="ellipse">
            <a:avLst/>
          </a:prstGeom>
          <a:solidFill>
            <a:srgbClr val="7C93A0">
              <a:alpha val="4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331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A97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DATA ANALYSIS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697480"/>
            <a:ext cx="10241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Patients Healthcare Analytics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6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review of patient volume, medical conditions, billing performance, and hospital operations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617720"/>
            <a:ext cx="1280160" cy="0"/>
          </a:xfrm>
          <a:prstGeom prst="line">
            <a:avLst/>
          </a:prstGeom>
          <a:noFill/>
          <a:ln w="31750">
            <a:solidFill>
              <a:srgbClr val="A97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494477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7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5162853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Subhodip Sarkar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77240" y="55918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indicators across the full patient dataset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084832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764792"/>
            <a:ext cx="365760" cy="73152"/>
          </a:xfrm>
          <a:prstGeom prst="roundRect">
            <a:avLst>
              <a:gd name="adj" fmla="val 50000"/>
            </a:avLst>
          </a:prstGeom>
          <a:solidFill>
            <a:srgbClr val="A97155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984248"/>
            <a:ext cx="18105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54.97K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85800" y="2587752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F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Patients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85800" y="2862072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54,966 records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834640" y="1600200"/>
            <a:ext cx="2084832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999232" y="1764792"/>
            <a:ext cx="365760" cy="73152"/>
          </a:xfrm>
          <a:prstGeom prst="roundRect">
            <a:avLst>
              <a:gd name="adj" fmla="val 50000"/>
            </a:avLst>
          </a:prstGeom>
          <a:solidFill>
            <a:srgbClr val="A97155"/>
          </a:solidFill>
          <a:ln/>
        </p:spPr>
      </p:sp>
      <p:sp>
        <p:nvSpPr>
          <p:cNvPr id="11" name="Text 9"/>
          <p:cNvSpPr/>
          <p:nvPr/>
        </p:nvSpPr>
        <p:spPr>
          <a:xfrm>
            <a:off x="2971800" y="1984248"/>
            <a:ext cx="18105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₹1.4bn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971800" y="2587752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F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Amount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971800" y="2862072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20640" y="1600200"/>
            <a:ext cx="2084832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285232" y="1764792"/>
            <a:ext cx="365760" cy="73152"/>
          </a:xfrm>
          <a:prstGeom prst="roundRect">
            <a:avLst>
              <a:gd name="adj" fmla="val 50000"/>
            </a:avLst>
          </a:prstGeom>
          <a:solidFill>
            <a:srgbClr val="A97155"/>
          </a:solidFill>
          <a:ln/>
        </p:spPr>
      </p:sp>
      <p:sp>
        <p:nvSpPr>
          <p:cNvPr id="16" name="Text 14"/>
          <p:cNvSpPr/>
          <p:nvPr/>
        </p:nvSpPr>
        <p:spPr>
          <a:xfrm>
            <a:off x="5257800" y="1984248"/>
            <a:ext cx="18105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₹25.55K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257800" y="2587752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F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Bill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257800" y="2862072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patient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406640" y="1600200"/>
            <a:ext cx="2084832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571232" y="1764792"/>
            <a:ext cx="365760" cy="73152"/>
          </a:xfrm>
          <a:prstGeom prst="roundRect">
            <a:avLst>
              <a:gd name="adj" fmla="val 50000"/>
            </a:avLst>
          </a:prstGeom>
          <a:solidFill>
            <a:srgbClr val="A97155"/>
          </a:solidFill>
          <a:ln/>
        </p:spPr>
      </p:sp>
      <p:sp>
        <p:nvSpPr>
          <p:cNvPr id="21" name="Text 19"/>
          <p:cNvSpPr/>
          <p:nvPr/>
        </p:nvSpPr>
        <p:spPr>
          <a:xfrm>
            <a:off x="7543800" y="1984248"/>
            <a:ext cx="18105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 yrs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543800" y="2587752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F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Age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543800" y="2862072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49-53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692640" y="1600200"/>
            <a:ext cx="2084832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857232" y="1764792"/>
            <a:ext cx="365760" cy="73152"/>
          </a:xfrm>
          <a:prstGeom prst="roundRect">
            <a:avLst>
              <a:gd name="adj" fmla="val 50000"/>
            </a:avLst>
          </a:prstGeom>
          <a:solidFill>
            <a:srgbClr val="A97155"/>
          </a:solidFill>
          <a:ln/>
        </p:spPr>
      </p:sp>
      <p:sp>
        <p:nvSpPr>
          <p:cNvPr id="26" name="Text 24"/>
          <p:cNvSpPr/>
          <p:nvPr/>
        </p:nvSpPr>
        <p:spPr>
          <a:xfrm>
            <a:off x="9829800" y="1984248"/>
            <a:ext cx="18105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days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9829800" y="2587752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F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Stay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829800" y="2862072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admission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3703320"/>
            <a:ext cx="6675120" cy="2423160"/>
          </a:xfrm>
          <a:prstGeom prst="roundRect">
            <a:avLst>
              <a:gd name="adj" fmla="val 339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1A1A">
                <a:alpha val="1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68680" y="390448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3 Medical Conditions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68680" y="4507992"/>
            <a:ext cx="146304" cy="146304"/>
          </a:xfrm>
          <a:prstGeom prst="ellipse">
            <a:avLst/>
          </a:prstGeom>
          <a:solidFill>
            <a:srgbClr val="A97155"/>
          </a:solidFill>
          <a:ln/>
        </p:spPr>
      </p:sp>
      <p:sp>
        <p:nvSpPr>
          <p:cNvPr id="32" name="Text 30"/>
          <p:cNvSpPr/>
          <p:nvPr/>
        </p:nvSpPr>
        <p:spPr>
          <a:xfrm>
            <a:off x="1143000" y="442569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3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Arthritis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852160" y="4425696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3F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9.2K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68680" y="5038344"/>
            <a:ext cx="146304" cy="146304"/>
          </a:xfrm>
          <a:prstGeom prst="ellipse">
            <a:avLst/>
          </a:prstGeom>
          <a:solidFill>
            <a:srgbClr val="A97155"/>
          </a:solidFill>
          <a:ln/>
        </p:spPr>
      </p:sp>
      <p:sp>
        <p:nvSpPr>
          <p:cNvPr id="35" name="Text 33"/>
          <p:cNvSpPr/>
          <p:nvPr/>
        </p:nvSpPr>
        <p:spPr>
          <a:xfrm>
            <a:off x="1143000" y="495604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3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852160" y="495604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3F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9.2K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868680" y="5568696"/>
            <a:ext cx="146304" cy="146304"/>
          </a:xfrm>
          <a:prstGeom prst="ellipse">
            <a:avLst/>
          </a:prstGeom>
          <a:solidFill>
            <a:srgbClr val="A97155"/>
          </a:solidFill>
          <a:ln/>
        </p:spPr>
      </p:sp>
      <p:sp>
        <p:nvSpPr>
          <p:cNvPr id="38" name="Text 36"/>
          <p:cNvSpPr/>
          <p:nvPr/>
        </p:nvSpPr>
        <p:spPr>
          <a:xfrm>
            <a:off x="1143000" y="5486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3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Hypertension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852160" y="54864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3F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9.1K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7406640" y="3703320"/>
            <a:ext cx="4206240" cy="2423160"/>
          </a:xfrm>
          <a:prstGeom prst="roundRect">
            <a:avLst>
              <a:gd name="adj" fmla="val 3396"/>
            </a:avLst>
          </a:prstGeom>
          <a:solidFill>
            <a:srgbClr val="232B33"/>
          </a:solidFill>
          <a:ln/>
          <a:effectLst>
            <a:outerShdw blurRad="101600" dist="38100" dir="5400000" algn="bl" rotWithShape="0">
              <a:srgbClr val="1A1A1A">
                <a:alpha val="1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680960" y="4023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Cancer Patients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680960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A971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9,140</a:t>
            </a:r>
            <a:endParaRPr lang="en-US" sz="4400" dirty="0"/>
          </a:p>
        </p:txBody>
      </p:sp>
      <p:sp>
        <p:nvSpPr>
          <p:cNvPr id="43" name="Text 41"/>
          <p:cNvSpPr/>
          <p:nvPr/>
        </p:nvSpPr>
        <p:spPr>
          <a:xfrm>
            <a:off x="7680960" y="53035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split — Male 27,496 | Female 27,470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Healthcare Analytics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Demographics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of patients by medical condition and gender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by Medical Condition</a:t>
            </a:r>
            <a:endParaRPr lang="en-US" sz="1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737360"/>
          <a:ext cx="658368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7360920" y="1371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Split</a:t>
            </a:r>
            <a:endParaRPr lang="en-US" sz="140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7406640" y="1783080"/>
          <a:ext cx="420624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7406640" y="4617720"/>
            <a:ext cx="4206240" cy="1600200"/>
          </a:xfrm>
          <a:prstGeom prst="roundRect">
            <a:avLst>
              <a:gd name="adj" fmla="val 5143"/>
            </a:avLst>
          </a:prstGeom>
          <a:solidFill>
            <a:srgbClr val="F2F0EB"/>
          </a:solidFill>
          <a:ln/>
        </p:spPr>
      </p:sp>
      <p:sp>
        <p:nvSpPr>
          <p:cNvPr id="9" name="Text 5"/>
          <p:cNvSpPr/>
          <p:nvPr/>
        </p:nvSpPr>
        <p:spPr>
          <a:xfrm>
            <a:off x="7635240" y="47548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F54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27,496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7635240" y="52120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Patients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9601200" y="47548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971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27,470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9601200" y="52120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Patients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7635240" y="57150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balanced split — only 26 patients apart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Healthcare Analytics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Performance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amount trends by year and by insurance provider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Amount by Year (₹ bn)</a:t>
            </a:r>
            <a:endParaRPr lang="en-US" sz="1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737360"/>
          <a:ext cx="658368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7360920" y="1371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Amount by Insurance Provider</a:t>
            </a:r>
            <a:endParaRPr lang="en-US" sz="140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7315200" y="1737360"/>
          <a:ext cx="438912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Healthcare Analytics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Admissions &amp; Care Team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type breakdown and the leading doctors by patient volume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212080" cy="4892040"/>
          </a:xfrm>
          <a:prstGeom prst="roundRect">
            <a:avLst>
              <a:gd name="adj" fmla="val 168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1A1A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645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Type</a:t>
            </a:r>
            <a:endParaRPr lang="en-US" sz="14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822960" y="2011680"/>
          <a:ext cx="46634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822960" y="534924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Elective 18.47K (33.6%)  •  Urgent 18.39K (33.5%)  •  Emergency 18.1K (32.9%)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943600" y="1417320"/>
            <a:ext cx="5669280" cy="4892040"/>
          </a:xfrm>
          <a:prstGeom prst="roundRect">
            <a:avLst>
              <a:gd name="adj" fmla="val 168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1A1A">
                <a:alpha val="1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217920" y="16459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7 Doctors by Patient Volume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263640" y="2148840"/>
            <a:ext cx="384048" cy="384048"/>
          </a:xfrm>
          <a:prstGeom prst="ellipse">
            <a:avLst/>
          </a:prstGeom>
          <a:solidFill>
            <a:srgbClr val="3F5468"/>
          </a:solidFill>
          <a:ln/>
        </p:spPr>
      </p:sp>
      <p:sp>
        <p:nvSpPr>
          <p:cNvPr id="11" name="Text 8"/>
          <p:cNvSpPr/>
          <p:nvPr/>
        </p:nvSpPr>
        <p:spPr>
          <a:xfrm>
            <a:off x="6263640" y="21488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812280" y="21671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3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Smith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263640" y="2697480"/>
            <a:ext cx="384048" cy="384048"/>
          </a:xfrm>
          <a:prstGeom prst="ellipse">
            <a:avLst/>
          </a:prstGeom>
          <a:solidFill>
            <a:srgbClr val="7C93A0"/>
          </a:solidFill>
          <a:ln/>
        </p:spPr>
      </p:sp>
      <p:sp>
        <p:nvSpPr>
          <p:cNvPr id="14" name="Text 11"/>
          <p:cNvSpPr/>
          <p:nvPr/>
        </p:nvSpPr>
        <p:spPr>
          <a:xfrm>
            <a:off x="6263640" y="2697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812280" y="27157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3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Smith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263640" y="3246120"/>
            <a:ext cx="384048" cy="384048"/>
          </a:xfrm>
          <a:prstGeom prst="ellipse">
            <a:avLst/>
          </a:prstGeom>
          <a:solidFill>
            <a:srgbClr val="3F5468"/>
          </a:solidFill>
          <a:ln/>
        </p:spPr>
      </p:sp>
      <p:sp>
        <p:nvSpPr>
          <p:cNvPr id="17" name="Text 14"/>
          <p:cNvSpPr/>
          <p:nvPr/>
        </p:nvSpPr>
        <p:spPr>
          <a:xfrm>
            <a:off x="6263640" y="3246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812280" y="32644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3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Smith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263640" y="3794760"/>
            <a:ext cx="384048" cy="384048"/>
          </a:xfrm>
          <a:prstGeom prst="ellipse">
            <a:avLst/>
          </a:prstGeom>
          <a:solidFill>
            <a:srgbClr val="7C93A0"/>
          </a:solidFill>
          <a:ln/>
        </p:spPr>
      </p:sp>
      <p:sp>
        <p:nvSpPr>
          <p:cNvPr id="20" name="Text 17"/>
          <p:cNvSpPr/>
          <p:nvPr/>
        </p:nvSpPr>
        <p:spPr>
          <a:xfrm>
            <a:off x="6263640" y="3794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812280" y="381304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3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Johnson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6263640" y="4343400"/>
            <a:ext cx="384048" cy="384048"/>
          </a:xfrm>
          <a:prstGeom prst="ellipse">
            <a:avLst/>
          </a:prstGeom>
          <a:solidFill>
            <a:srgbClr val="3F5468"/>
          </a:solidFill>
          <a:ln/>
        </p:spPr>
      </p:sp>
      <p:sp>
        <p:nvSpPr>
          <p:cNvPr id="23" name="Text 20"/>
          <p:cNvSpPr/>
          <p:nvPr/>
        </p:nvSpPr>
        <p:spPr>
          <a:xfrm>
            <a:off x="6263640" y="4343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812280" y="436168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3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Ja. Smith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6263640" y="4892040"/>
            <a:ext cx="384048" cy="384048"/>
          </a:xfrm>
          <a:prstGeom prst="ellipse">
            <a:avLst/>
          </a:prstGeom>
          <a:solidFill>
            <a:srgbClr val="7C93A0"/>
          </a:solidFill>
          <a:ln/>
        </p:spPr>
      </p:sp>
      <p:sp>
        <p:nvSpPr>
          <p:cNvPr id="26" name="Text 23"/>
          <p:cNvSpPr/>
          <p:nvPr/>
        </p:nvSpPr>
        <p:spPr>
          <a:xfrm>
            <a:off x="6263640" y="4892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812280" y="49103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3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Smith</a:t>
            </a:r>
            <a:endParaRPr lang="en-US" sz="1350" dirty="0"/>
          </a:p>
        </p:txBody>
      </p:sp>
      <p:sp>
        <p:nvSpPr>
          <p:cNvPr id="28" name="Shape 25"/>
          <p:cNvSpPr/>
          <p:nvPr/>
        </p:nvSpPr>
        <p:spPr>
          <a:xfrm>
            <a:off x="6263640" y="5440680"/>
            <a:ext cx="384048" cy="384048"/>
          </a:xfrm>
          <a:prstGeom prst="ellipse">
            <a:avLst/>
          </a:prstGeom>
          <a:solidFill>
            <a:srgbClr val="3F5468"/>
          </a:solidFill>
          <a:ln/>
        </p:spPr>
      </p:sp>
      <p:sp>
        <p:nvSpPr>
          <p:cNvPr id="29" name="Text 26"/>
          <p:cNvSpPr/>
          <p:nvPr/>
        </p:nvSpPr>
        <p:spPr>
          <a:xfrm>
            <a:off x="6263640" y="5440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6812280" y="54589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3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Ro. Johnson</a:t>
            </a:r>
            <a:endParaRPr lang="en-US" sz="1350" dirty="0"/>
          </a:p>
        </p:txBody>
      </p:sp>
      <p:sp>
        <p:nvSpPr>
          <p:cNvPr id="31" name="Text 2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Healthcare Analytics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32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Snapshot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6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– Patients Healthcare Analytics dashboard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972800" cy="507492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/>
          <a:effectLst>
            <a:outerShdw blurRad="177800" dist="508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5" name="Image 0" descr="dashboar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691640"/>
            <a:ext cx="10424160" cy="4526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Healthcare Analytics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32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3840480" cy="3840480"/>
          </a:xfrm>
          <a:prstGeom prst="ellipse">
            <a:avLst/>
          </a:prstGeom>
          <a:solidFill>
            <a:srgbClr val="3F5468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5120640"/>
            <a:ext cx="2926080" cy="2926080"/>
          </a:xfrm>
          <a:prstGeom prst="ellipse">
            <a:avLst/>
          </a:prstGeom>
          <a:solidFill>
            <a:srgbClr val="7C93A0">
              <a:alpha val="5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640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1536192"/>
            <a:ext cx="128016" cy="128016"/>
          </a:xfrm>
          <a:prstGeom prst="ellipse">
            <a:avLst/>
          </a:prstGeom>
          <a:solidFill>
            <a:srgbClr val="A97155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389888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D6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base is large and evenly split — 54,966 total patients, nearly 50/50 across gender.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22960" y="2249424"/>
            <a:ext cx="128016" cy="128016"/>
          </a:xfrm>
          <a:prstGeom prst="ellipse">
            <a:avLst/>
          </a:prstGeom>
          <a:solidFill>
            <a:srgbClr val="A97155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10312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D6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Arthritis, diabetes, and hypertension are the leading conditions, each affecting roughly 9.1–9.2K patients.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2962656"/>
            <a:ext cx="128016" cy="128016"/>
          </a:xfrm>
          <a:prstGeom prst="ellipse">
            <a:avLst/>
          </a:prstGeom>
          <a:solidFill>
            <a:srgbClr val="A97155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2816352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D6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types are well balanced across elective, urgent, and emergency cases (~33% each).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22960" y="3675888"/>
            <a:ext cx="128016" cy="128016"/>
          </a:xfrm>
          <a:prstGeom prst="ellipse">
            <a:avLst/>
          </a:prstGeom>
          <a:solidFill>
            <a:srgbClr val="A97155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3529584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D6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peaked between 2020–2023 at ₹0.28bn per year, with 2024 data only partially captured.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22960" y="4389120"/>
            <a:ext cx="128016" cy="128016"/>
          </a:xfrm>
          <a:prstGeom prst="ellipse">
            <a:avLst/>
          </a:prstGeom>
          <a:solidFill>
            <a:srgbClr val="A97155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4242816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D6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insurance providers each contribute ₹90M+ in billing, led narrowly by Medicare.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22960" y="5532120"/>
            <a:ext cx="10607040" cy="0"/>
          </a:xfrm>
          <a:prstGeom prst="line">
            <a:avLst/>
          </a:prstGeom>
          <a:noFill/>
          <a:ln w="12700">
            <a:solidFill>
              <a:srgbClr val="3E47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57150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22960" y="619963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7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Subhodip Sarkar  •  Data Analyst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Healthcare Analytics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350</Words>
  <Application>Microsoft Office PowerPoint</Application>
  <PresentationFormat>Widescreen</PresentationFormat>
  <Paragraphs>99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SUBHODIP SARKAR</cp:lastModifiedBy>
  <cp:revision>2</cp:revision>
  <dcterms:created xsi:type="dcterms:W3CDTF">2026-08-10T14:21:49Z</dcterms:created>
  <dcterms:modified xsi:type="dcterms:W3CDTF">2026-08-10T14:27:39Z</dcterms:modified>
</cp:coreProperties>
</file>